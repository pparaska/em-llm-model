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1" r:id="rId3"/>
    <p:sldId id="28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3" r:id="rId21"/>
    <p:sldId id="276" r:id="rId22"/>
    <p:sldId id="279" r:id="rId23"/>
    <p:sldId id="280" r:id="rId24"/>
    <p:sldId id="284" r:id="rId25"/>
    <p:sldId id="285" r:id="rId26"/>
    <p:sldId id="286" r:id="rId27"/>
    <p:sldId id="28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11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attention decay in plain words and why it causes forgetting.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with 1–2 concrete examples. Transition to memory-inspired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question and the concrete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main contributions. Keep it crisp.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20–30 seconds. Position your work; avoid a literature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once. Emphasize training-free wrapper and KV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surprisal in simple terms. No heavy math; focus on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events are grouped into episodes; buffer keeps local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retrieval selects events and KV injection makes them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need for cross-event prioritization.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CXR in one sentence: query-conditioned cross-event prioritization on top of EM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is computed and what changes: event selection becomes connectivity-aware.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fairness: same base model; only context management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task groups and emphasize coverage: multi-hop, summarization, long-context.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3-way comparison and which metrics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headline: baseline ~10 → EM ~38 → EM+CXR ~40.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99BE-B46F-9E28-EFB8-E9C449FF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451EE-E32A-D894-B8A9-B1E1466F2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D2981-622E-FCF0-3A54-3745FB3E3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headline: baseline ~10 → EM ~38 → EM+CXR ~40.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01F78-E6A2-F6F8-00F9-7EE9A902D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39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why: CXR favors bridging events; strongest on HotpotQA and RepoBench-P.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trade-offs positively: overhead is the cost of better long-context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3 takeaways.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E168-10ED-1EC9-4A18-718B3F346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1BEFF-651E-6284-E46F-6FF8A3835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4D96D-6ED2-CE1A-AE18-1926B28B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C6E2D-00E5-4F57-A5AF-96B3EFBCBFA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C96A2-C88E-604C-26A7-738755B4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3480D-D5D8-0E3E-D977-0DEE78CB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9475-D85B-41C6-9AD7-B0A391DD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5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870E-B1FE-E556-CE01-D97BCD58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426B-9E4A-A782-BCB5-84F36089C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5EA72-A7D6-7309-A484-700C0A3B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C6E2D-00E5-4F57-A5AF-96B3EFBCBFA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CFA9-BFA6-25D5-45F1-4F82582C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FF232-271B-9B75-EAEF-3B49B920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9475-D85B-41C6-9AD7-B0A391DD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6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4C9-6FAE-A254-F390-258E52BE5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2520011"/>
            <a:ext cx="8915400" cy="1145381"/>
          </a:xfrm>
        </p:spPr>
        <p:txBody>
          <a:bodyPr>
            <a:noAutofit/>
          </a:bodyPr>
          <a:lstStyle/>
          <a:p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Context Management in Large Language Models to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 Attention Decay Using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Memory-Inspired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A0F3D-E85B-3E5D-CB0B-D414C5A8E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6105" y="3844926"/>
            <a:ext cx="4600575" cy="189547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Master of Engineering</a:t>
            </a:r>
            <a:b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Information Technology</a:t>
            </a:r>
            <a:b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Poonam Dashrath Paraskar</a:t>
            </a:r>
            <a:b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1427297</a:t>
            </a:r>
            <a:b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poonam.paraskar@stud.fra-uas.de</a:t>
            </a:r>
            <a:endParaRPr lang="ar-SA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3AF9B-8E4E-C999-5957-4DBED84B706A}"/>
              </a:ext>
            </a:extLst>
          </p:cNvPr>
          <p:cNvSpPr txBox="1"/>
          <p:nvPr/>
        </p:nvSpPr>
        <p:spPr>
          <a:xfrm>
            <a:off x="858327" y="4243797"/>
            <a:ext cx="47057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endParaRPr lang="en-GB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endParaRPr lang="en-US" dirty="0"/>
          </a:p>
        </p:txBody>
      </p:sp>
      <p:pic>
        <p:nvPicPr>
          <p:cNvPr id="8" name="Picture 7" descr="A logo for a university&#10;&#10;Description automatically generated">
            <a:extLst>
              <a:ext uri="{FF2B5EF4-FFF2-40B4-BE49-F238E27FC236}">
                <a16:creationId xmlns:a16="http://schemas.microsoft.com/office/drawing/2014/main" id="{D93727A5-7A92-73E1-D375-334A2583A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700" y="152399"/>
            <a:ext cx="1408021" cy="140802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028798-517B-A410-E9B2-2CCECEF28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37780"/>
              </p:ext>
            </p:extLst>
          </p:nvPr>
        </p:nvGraphicFramePr>
        <p:xfrm>
          <a:off x="873596" y="4155440"/>
          <a:ext cx="5754370" cy="15951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86562">
                  <a:extLst>
                    <a:ext uri="{9D8B030D-6E8A-4147-A177-3AD203B41FA5}">
                      <a16:colId xmlns:a16="http://schemas.microsoft.com/office/drawing/2014/main" val="1585810492"/>
                    </a:ext>
                  </a:extLst>
                </a:gridCol>
                <a:gridCol w="3767808">
                  <a:extLst>
                    <a:ext uri="{9D8B030D-6E8A-4147-A177-3AD203B41FA5}">
                      <a16:colId xmlns:a16="http://schemas.microsoft.com/office/drawing/2014/main" val="114694024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endParaRPr lang="en-US" sz="17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endParaRPr lang="en-US" sz="17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551847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de-DE" sz="1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examiner: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Prof. Dr. Andreas Pech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15308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de-DE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</a:t>
                      </a:r>
                      <a:r>
                        <a:rPr lang="de-DE" sz="1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examiner</a:t>
                      </a:r>
                      <a:r>
                        <a:rPr lang="de-DE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de-DE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Prof. Dr. 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Peter Nauth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569235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de-DE" sz="1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Supervisor: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de-DE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</a:t>
                      </a:r>
                      <a:r>
                        <a:rPr lang="de-DE" sz="1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Indraneel</a:t>
                      </a:r>
                      <a:r>
                        <a:rPr lang="de-DE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Pole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1490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41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4C9-6FAE-A254-F390-258E52BE5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3" y="582027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E1C01-C901-5605-0D5B-B36ED591D5F9}"/>
              </a:ext>
            </a:extLst>
          </p:cNvPr>
          <p:cNvSpPr txBox="1"/>
          <p:nvPr/>
        </p:nvSpPr>
        <p:spPr>
          <a:xfrm>
            <a:off x="438912" y="1806047"/>
            <a:ext cx="6908186" cy="4318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Introduction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Problem Statement: Attention Decay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Motivation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Research Question &amp; Objectives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Contributions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Related Work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Approach: Episodic memory (EM-LLM)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Cross-Event Reasoner 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System Architecture- Comparison of Baseline vs EM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Datasets &amp; Tasks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Quantitative Results (Overall F1)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Dataset-wise F1 (Baseline vs EM vs EM+CXR)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Advantages and Disadvantages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Conclusion &amp; future work</a:t>
            </a:r>
          </a:p>
        </p:txBody>
      </p:sp>
      <p:pic>
        <p:nvPicPr>
          <p:cNvPr id="8" name="Picture 7" descr="A logo for a university&#10;&#10;Description automatically generated">
            <a:extLst>
              <a:ext uri="{FF2B5EF4-FFF2-40B4-BE49-F238E27FC236}">
                <a16:creationId xmlns:a16="http://schemas.microsoft.com/office/drawing/2014/main" id="{D93727A5-7A92-73E1-D375-334A2583A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775" y="261919"/>
            <a:ext cx="1867116" cy="1544128"/>
          </a:xfrm>
          <a:prstGeom prst="rect">
            <a:avLst/>
          </a:prstGeom>
        </p:spPr>
      </p:pic>
      <p:pic>
        <p:nvPicPr>
          <p:cNvPr id="12" name="Picture 11" descr="A blue and yellow line art of a robot&#10;&#10;Description automatically generated">
            <a:extLst>
              <a:ext uri="{FF2B5EF4-FFF2-40B4-BE49-F238E27FC236}">
                <a16:creationId xmlns:a16="http://schemas.microsoft.com/office/drawing/2014/main" id="{65306517-C2D1-906F-3ADC-3092D7756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22" y="2499251"/>
            <a:ext cx="4039570" cy="357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0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4C9-6FAE-A254-F390-258E52BE5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2120" y="1033292"/>
            <a:ext cx="8915400" cy="78516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8" name="Picture 7" descr="A logo for a university&#10;&#10;Description automatically generated">
            <a:extLst>
              <a:ext uri="{FF2B5EF4-FFF2-40B4-BE49-F238E27FC236}">
                <a16:creationId xmlns:a16="http://schemas.microsoft.com/office/drawing/2014/main" id="{D93727A5-7A92-73E1-D375-334A2583A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350" y="357731"/>
            <a:ext cx="1466850" cy="1466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E1C01-C901-5605-0D5B-B36ED591D5F9}"/>
              </a:ext>
            </a:extLst>
          </p:cNvPr>
          <p:cNvSpPr txBox="1"/>
          <p:nvPr/>
        </p:nvSpPr>
        <p:spPr>
          <a:xfrm>
            <a:off x="1364615" y="1876321"/>
            <a:ext cx="1002030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Long-context LLM performance degrades as input length grows, and important early details are often ignored due to attention decay.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aims to preserve relevant information in long inputs without retraining the underlying language model.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episodic-memory approach (EM-LLM) segments text into events and retrieves the most relevant events for the current query.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Cross-Event Reasoner (CXR) prioritizes cross-event connections to improve multi-hop reasoning, with significant gains over the baseline and additional improvements on cross-event tasks.</a:t>
            </a:r>
          </a:p>
        </p:txBody>
      </p:sp>
    </p:spTree>
    <p:extLst>
      <p:ext uri="{BB962C8B-B14F-4D97-AF65-F5344CB8AC3E}">
        <p14:creationId xmlns:p14="http://schemas.microsoft.com/office/powerpoint/2010/main" val="100045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Attention Decay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In very long sequences, earlier tokens receive less attention, leading the model to behave as if it forgets the earlier inputs.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Main Reasons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203883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Long inputs make earlier details easier to forget.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Recent text gets more attention than old text.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As the context grows, key details become harder to notice.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Multi-step questions require linking far-apart facts, which becomes harder in long contexts.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18120" y="1874520"/>
            <a:ext cx="3703320" cy="420624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46720" y="20391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Attention Decay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75320" y="2651760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58200" y="2788920"/>
            <a:ext cx="0" cy="233172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58200" y="5120640"/>
            <a:ext cx="242316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41080" y="3017520"/>
            <a:ext cx="502920" cy="685800"/>
          </a:xfrm>
          <a:prstGeom prst="line">
            <a:avLst/>
          </a:prstGeom>
          <a:noFill/>
          <a:ln w="381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0" y="3703320"/>
            <a:ext cx="731520" cy="502920"/>
          </a:xfrm>
          <a:prstGeom prst="line">
            <a:avLst/>
          </a:prstGeom>
          <a:noFill/>
          <a:ln w="381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875520" y="4206240"/>
            <a:ext cx="822960" cy="320040"/>
          </a:xfrm>
          <a:prstGeom prst="line">
            <a:avLst/>
          </a:prstGeom>
          <a:noFill/>
          <a:ln w="381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5257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tokens→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0" y="5257800"/>
            <a:ext cx="1234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Recent tokens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5989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30000" y="65653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0" name="Picture 19" descr="A logo for a university&#10;&#10;Description automatically generated">
            <a:extLst>
              <a:ext uri="{FF2B5EF4-FFF2-40B4-BE49-F238E27FC236}">
                <a16:creationId xmlns:a16="http://schemas.microsoft.com/office/drawing/2014/main" id="{1B919047-CDBD-BE5A-6E98-145D91B0D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320" y="19050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682496"/>
            <a:ext cx="5486400" cy="274320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de-DE" sz="2000" b="1" dirty="0">
                <a:latin typeface="Times" panose="02020603050405020304" pitchFamily="18" charset="0"/>
                <a:cs typeface="Times" panose="02020603050405020304" pitchFamily="18" charset="0"/>
              </a:rPr>
              <a:t>Failures</a:t>
            </a:r>
            <a:endParaRPr lang="de-DE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Multi-hop QA: Must link facts across distant parts of context.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Summarization: Early definitions and constraints get dropped.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Long documents/code: Key details appear far from the query.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de-DE" dirty="0"/>
          </a:p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813669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282549"/>
            <a:ext cx="5486400" cy="1638952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de-DE" b="1" dirty="0">
                <a:latin typeface="Times" panose="02020603050405020304" pitchFamily="18" charset="0"/>
                <a:cs typeface="Times" panose="02020603050405020304" pitchFamily="18" charset="0"/>
              </a:rPr>
              <a:t>Real Impact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Lower accuracy and more hallucinations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Need to re-prompt or repeat information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Inefficient use of large context windows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882896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38068" y="1502970"/>
            <a:ext cx="5212080" cy="2450672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de-DE" dirty="0"/>
          </a:p>
          <a:p>
            <a:pPr algn="ctr"/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Thesis Direction: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Treat long context like “episodes” and retrieve relevant events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Prioritize the events that form a reasoning chain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66560" y="2039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0292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5" name="Picture 14" descr="A logo for a university&#10;&#10;Description automatically generated">
            <a:extLst>
              <a:ext uri="{FF2B5EF4-FFF2-40B4-BE49-F238E27FC236}">
                <a16:creationId xmlns:a16="http://schemas.microsoft.com/office/drawing/2014/main" id="{C19EFB1B-5C0B-0A10-E1B4-14DBE5367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54700"/>
            <a:ext cx="1518829" cy="15188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50768" y="763524"/>
            <a:ext cx="965998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&amp; Objectives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b="1" dirty="0">
              <a:latin typeface="Times" panose="02020603050405020304" pitchFamily="18" charset="0"/>
              <a:ea typeface="Calibri" pitchFamily="34" charset="-122"/>
              <a:cs typeface="Times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Research question:</a:t>
            </a:r>
          </a:p>
          <a:p>
            <a:r>
              <a:rPr lang="en-US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Can the problem of attention decay in the long-context be improved by adding episodic memory and prioritization, without retraining the LLM?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Objectives: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Build a strong baseline pipeline (same model, no episodic memory)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Restore EM-LLM (event segmentation, memory structure, retrieval)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Design and integrate CXR to prioritize cross-event links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Evaluate on QA, summarization, and long-context benchmarks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087368"/>
            <a:ext cx="10149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2" name="Picture 11" descr="A logo for a university&#10;&#10;Description automatically generated">
            <a:extLst>
              <a:ext uri="{FF2B5EF4-FFF2-40B4-BE49-F238E27FC236}">
                <a16:creationId xmlns:a16="http://schemas.microsoft.com/office/drawing/2014/main" id="{31CDF8D8-A232-9EF5-28EF-7EF18FD3B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10332720" cy="27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933956"/>
            <a:ext cx="10149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63367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6739128"/>
            <a:ext cx="101498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73DD6-7846-C841-A371-CD6B06F91B67}"/>
              </a:ext>
            </a:extLst>
          </p:cNvPr>
          <p:cNvSpPr txBox="1"/>
          <p:nvPr/>
        </p:nvSpPr>
        <p:spPr>
          <a:xfrm>
            <a:off x="1097279" y="1851660"/>
            <a:ext cx="9822358" cy="278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Non-episodic baseline tool (Mistral via </a:t>
            </a:r>
            <a:r>
              <a:rPr lang="en-US" sz="2200" dirty="0" err="1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Ollama</a:t>
            </a:r>
            <a:r>
              <a:rPr lang="en-US" sz="22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) for fair comparison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Restored EM-LLM pipeline (training-free episodic memory wrapper)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New Cross-Event Reasoner (CXR) for human-memory-inspired prioritization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Benchmark evaluation across 9 datasets + qualitative analysis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6" name="Picture 15" descr="A logo for a university&#10;&#10;Description automatically generated">
            <a:extLst>
              <a:ext uri="{FF2B5EF4-FFF2-40B4-BE49-F238E27FC236}">
                <a16:creationId xmlns:a16="http://schemas.microsoft.com/office/drawing/2014/main" id="{9A6C2546-A0AE-DC53-3584-FF20A5762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Common approaches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RAG: Retrieve external documents (knowledge) vs context organization.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Long-context transformers: Architectural changes or training.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Memory modules: Store summaries or states for reuse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29400" y="2039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Tahoma" panose="020B0604030504040204" pitchFamily="34" charset="0"/>
                <a:cs typeface="Times" panose="02020603050405020304" pitchFamily="18" charset="0"/>
              </a:rPr>
              <a:t>Gaps identified</a:t>
            </a:r>
            <a:endParaRPr lang="en-US" sz="2000" dirty="0">
              <a:latin typeface="Times" panose="02020603050405020304" pitchFamily="18" charset="0"/>
              <a:ea typeface="Tahoma" panose="020B0604030504040204" pitchFamily="34" charset="0"/>
              <a:cs typeface="Times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20840" y="2441448"/>
            <a:ext cx="4526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Training-free wrapper that turns long context into episodic “events”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Not only retrieval: Prioritize event-to-event bridges for multi-hop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59888" y="4864388"/>
            <a:ext cx="5762847" cy="121637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5114977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Thesis Idea: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5557807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EM-LLM restoration + CXR prioritization.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5" name="Picture 14" descr="A logo for a university&#10;&#10;Description automatically generated">
            <a:extLst>
              <a:ext uri="{FF2B5EF4-FFF2-40B4-BE49-F238E27FC236}">
                <a16:creationId xmlns:a16="http://schemas.microsoft.com/office/drawing/2014/main" id="{D1EB5C5A-B534-6CEC-3DA4-73D47E83C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EM-LLM (Episodic Memory)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17693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Idea: Convert long context into episodic “events” and retrieve only what matters for the query.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6071" y="2682382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816352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3127248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 / dialogue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29814" y="3017201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0982" y="2682382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5302" y="2816352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32734" y="3127248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Surprisal-based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boundaries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66436" y="3035808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76748" y="2660904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96205" y="2816352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23637" y="3127248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refinement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contiguity buffer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03060" y="3035808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7944" y="2682382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87107" y="2816352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14539" y="3127248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Query-conditioned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57970" y="3035808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89619" y="2660904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78010" y="2816352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05442" y="3127248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injection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attention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4076735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800" b="1" dirty="0" err="1">
                <a:latin typeface="Times" panose="02020603050405020304" pitchFamily="18" charset="0"/>
                <a:cs typeface="Times" panose="02020603050405020304" pitchFamily="18" charset="0"/>
              </a:rPr>
              <a:t>Importance</a:t>
            </a:r>
            <a:r>
              <a:rPr lang="de-DE" sz="1800" b="1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endParaRPr lang="en-US" sz="1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72471" y="4445473"/>
            <a:ext cx="44805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Reduces effective context length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Brings distant but relevant info “back into focus.”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Improves long-range retrieval &amp; reasoning without retraining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5840" y="4142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Memory representation: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97280" y="4544568"/>
            <a:ext cx="4846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Each event stores content + key/value (KV) tensors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Events are organized to support retrieval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Contiguity buffer keeps recent tokens accessible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2" name="Picture 31" descr="A logo for a university&#10;&#10;Description automatically generated">
            <a:extLst>
              <a:ext uri="{FF2B5EF4-FFF2-40B4-BE49-F238E27FC236}">
                <a16:creationId xmlns:a16="http://schemas.microsoft.com/office/drawing/2014/main" id="{76B2EB64-7EEB-3007-5719-4699C6072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EM-LLM Step 1: Event Segmentation</a:t>
            </a:r>
          </a:p>
        </p:txBody>
      </p:sp>
      <p:sp>
        <p:nvSpPr>
          <p:cNvPr id="7" name="Text 5"/>
          <p:cNvSpPr/>
          <p:nvPr/>
        </p:nvSpPr>
        <p:spPr>
          <a:xfrm>
            <a:off x="944880" y="2606465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Surprisal: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Compute token-level surprisal (unexpectedness) from the LLM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High surprisal often indicates a topic shift or new event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Use peaks to propose event boundaries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6497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000" b="1" dirty="0">
                <a:latin typeface="Times" panose="02020603050405020304" pitchFamily="18" charset="0"/>
                <a:cs typeface="Times" panose="02020603050405020304" pitchFamily="18" charset="0"/>
              </a:rPr>
              <a:t>Outputs: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Event spans with boundaries and metadata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Event summaries/representations for retrieval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5367528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2490145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Intuition: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Like human episodic memory: Detect “episodic changes.”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Avoid storing every token equally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441448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pic>
        <p:nvPicPr>
          <p:cNvPr id="15" name="Picture 14" descr="A logo for a university&#10;&#10;Description automatically generated">
            <a:extLst>
              <a:ext uri="{FF2B5EF4-FFF2-40B4-BE49-F238E27FC236}">
                <a16:creationId xmlns:a16="http://schemas.microsoft.com/office/drawing/2014/main" id="{E455B4B9-06C1-962C-F69F-C8EDA7EC2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EM-LLM Step 2: Memory Structuring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1746505"/>
            <a:ext cx="5212080" cy="3831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45994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5001768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57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Episodic memory (concept)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89520" y="2514600"/>
            <a:ext cx="3200400" cy="502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(summary)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3429000"/>
            <a:ext cx="1371600" cy="502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8040" y="3538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3017520"/>
            <a:ext cx="0" cy="41148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5320" y="3429000"/>
            <a:ext cx="1371600" cy="502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5320" y="3538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89720" y="3017520"/>
            <a:ext cx="0" cy="41148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72600" y="3429000"/>
            <a:ext cx="1371600" cy="5029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72600" y="3538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89720" y="3017520"/>
            <a:ext cx="868680" cy="41148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75320" y="4343400"/>
            <a:ext cx="1645920" cy="59436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75320" y="44074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98280" y="3931920"/>
            <a:ext cx="0" cy="41148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292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3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2A1CE0-FA34-1832-C9F0-66853488ECCF}"/>
              </a:ext>
            </a:extLst>
          </p:cNvPr>
          <p:cNvSpPr txBox="1"/>
          <p:nvPr/>
        </p:nvSpPr>
        <p:spPr>
          <a:xfrm>
            <a:off x="594360" y="1746505"/>
            <a:ext cx="56235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Graph-based boundary refinement: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After initial segmentation, refine boundaries to improve coherence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Topology metrics (e.g., modularity/conductance) help avoid fragmented events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2B8B35-0B34-3CD5-78F2-34621EE0D37B}"/>
              </a:ext>
            </a:extLst>
          </p:cNvPr>
          <p:cNvSpPr txBox="1"/>
          <p:nvPr/>
        </p:nvSpPr>
        <p:spPr>
          <a:xfrm>
            <a:off x="696965" y="3788037"/>
            <a:ext cx="536093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Contiguity buffer: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Keep most recent tokens directly accessible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Complements episodic retrieval for far context</a:t>
            </a:r>
          </a:p>
          <a:p>
            <a:endParaRPr lang="en-US" dirty="0"/>
          </a:p>
        </p:txBody>
      </p:sp>
      <p:pic>
        <p:nvPicPr>
          <p:cNvPr id="32" name="Picture 31" descr="A logo for a university&#10;&#10;Description automatically generated">
            <a:extLst>
              <a:ext uri="{FF2B5EF4-FFF2-40B4-BE49-F238E27FC236}">
                <a16:creationId xmlns:a16="http://schemas.microsoft.com/office/drawing/2014/main" id="{35D5D1DA-6FF8-F059-5324-8942C4EC8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EM-LLM Step 3: Retrieval + KV Injection</a:t>
            </a:r>
          </a:p>
        </p:txBody>
      </p:sp>
      <p:sp>
        <p:nvSpPr>
          <p:cNvPr id="7" name="Text 5"/>
          <p:cNvSpPr/>
          <p:nvPr/>
        </p:nvSpPr>
        <p:spPr>
          <a:xfrm>
            <a:off x="1028700" y="2697480"/>
            <a:ext cx="569214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Retrieval: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Embed query and candidate events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Retrieve top-k events by similarity + temporal contiguity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Assemble a compact “working context.”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Key benefit: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Training-free: no fine-tuning required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Model-agnostic wrapper around inference</a:t>
            </a: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4828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5230368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2039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441448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76215" y="563557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99176" y="5687568"/>
            <a:ext cx="457200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44148" y="5595809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events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67100" y="5672151"/>
            <a:ext cx="457200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5585389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KV</a:t>
            </a:r>
          </a:p>
        </p:txBody>
      </p:sp>
      <p:sp>
        <p:nvSpPr>
          <p:cNvPr id="21" name="Text 19"/>
          <p:cNvSpPr/>
          <p:nvPr/>
        </p:nvSpPr>
        <p:spPr>
          <a:xfrm>
            <a:off x="7161028" y="5595809"/>
            <a:ext cx="2163726" cy="324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0292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B99900-6370-670B-385E-43B40E700D30}"/>
              </a:ext>
            </a:extLst>
          </p:cNvPr>
          <p:cNvSpPr txBox="1"/>
          <p:nvPr/>
        </p:nvSpPr>
        <p:spPr>
          <a:xfrm>
            <a:off x="6720840" y="2200940"/>
            <a:ext cx="457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KV cache injection: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Inject retrieved events’ KV tensors into the model attention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Let the model attend to distant information as if it were recent</a:t>
            </a:r>
          </a:p>
        </p:txBody>
      </p:sp>
      <p:pic>
        <p:nvPicPr>
          <p:cNvPr id="25" name="Picture 24" descr="A logo for a university&#10;&#10;Description automatically generated">
            <a:extLst>
              <a:ext uri="{FF2B5EF4-FFF2-40B4-BE49-F238E27FC236}">
                <a16:creationId xmlns:a16="http://schemas.microsoft.com/office/drawing/2014/main" id="{6329BA79-CBF9-4033-3BFC-14CBEFCEC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EM-LLM Issues and motivation for CXR:</a:t>
            </a:r>
          </a:p>
        </p:txBody>
      </p:sp>
      <p:sp>
        <p:nvSpPr>
          <p:cNvPr id="7" name="Text 5"/>
          <p:cNvSpPr/>
          <p:nvPr/>
        </p:nvSpPr>
        <p:spPr>
          <a:xfrm>
            <a:off x="1005841" y="2163300"/>
            <a:ext cx="5212079" cy="852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Issue with similarity-only retrieval: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Retrieved events can be relevant but not sufficient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Multi-hop questions need “bridging” events to connect facts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Redundant events waste the limited injected budget</a:t>
            </a:r>
          </a:p>
        </p:txBody>
      </p:sp>
      <p:sp>
        <p:nvSpPr>
          <p:cNvPr id="8" name="Text 6"/>
          <p:cNvSpPr/>
          <p:nvPr/>
        </p:nvSpPr>
        <p:spPr>
          <a:xfrm>
            <a:off x="899160" y="1856657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53766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577900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391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441448"/>
            <a:ext cx="40690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942650-43D8-C8DE-913C-06811EDBD60B}"/>
              </a:ext>
            </a:extLst>
          </p:cNvPr>
          <p:cNvSpPr txBox="1"/>
          <p:nvPr/>
        </p:nvSpPr>
        <p:spPr>
          <a:xfrm>
            <a:off x="6560288" y="1705337"/>
            <a:ext cx="5029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Goal of prioritization: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Select a coherent set of events that supports reasoning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Prefer events with high cross-event connectivity and query relevance.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B55F1B-92AC-8F00-F943-5B858B4DB0BF}"/>
              </a:ext>
            </a:extLst>
          </p:cNvPr>
          <p:cNvSpPr txBox="1"/>
          <p:nvPr/>
        </p:nvSpPr>
        <p:spPr>
          <a:xfrm>
            <a:off x="2126512" y="4114800"/>
            <a:ext cx="79531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Motivation behind CXR: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issues with the similarity-only score and the goal of prioritization motivate a design of CXR: a lightweight, training-free re-ranking layer on top of EM-LLM retrieval.</a:t>
            </a:r>
          </a:p>
          <a:p>
            <a:endParaRPr lang="en-US" dirty="0"/>
          </a:p>
        </p:txBody>
      </p:sp>
      <p:pic>
        <p:nvPicPr>
          <p:cNvPr id="21" name="Picture 20" descr="A logo for a university&#10;&#10;Description automatically generated">
            <a:extLst>
              <a:ext uri="{FF2B5EF4-FFF2-40B4-BE49-F238E27FC236}">
                <a16:creationId xmlns:a16="http://schemas.microsoft.com/office/drawing/2014/main" id="{61194ACA-1150-FD72-CF7A-E840DD024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Cross-Event Reasoner (CXR)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4003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What CXR does: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Builds relationships between retrieved events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Estimates which events are essential for answering the query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Re-ranks / prunes events before KV injection</a:t>
            </a:r>
          </a:p>
          <a:p>
            <a:pPr>
              <a:lnSpc>
                <a:spcPct val="115000"/>
              </a:lnSpc>
            </a:pPr>
            <a:endParaRPr lang="en-US" sz="2000" dirty="0"/>
          </a:p>
          <a:p>
            <a:pPr>
              <a:lnSpc>
                <a:spcPct val="115000"/>
              </a:lnSpc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Human-memory inspiration: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Prioritize “high-utility” memories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Prefer connections that bridge distant facts</a:t>
            </a:r>
          </a:p>
        </p:txBody>
      </p:sp>
      <p:sp>
        <p:nvSpPr>
          <p:cNvPr id="10" name="Text 8"/>
          <p:cNvSpPr/>
          <p:nvPr/>
        </p:nvSpPr>
        <p:spPr>
          <a:xfrm>
            <a:off x="1005840" y="50566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5458968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057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Event graph: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0" y="2971800"/>
            <a:ext cx="1280160" cy="91440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78240" y="3886200"/>
            <a:ext cx="1188720" cy="105156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2834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0" y="29626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75520" y="2743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0" y="2871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0" y="3749040"/>
            <a:ext cx="640080" cy="640080"/>
          </a:xfrm>
          <a:prstGeom prst="ellipse">
            <a:avLst/>
          </a:prstGeom>
          <a:solidFill>
            <a:srgbClr val="2F5597"/>
          </a:solidFill>
          <a:ln w="254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95360" y="39136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47548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48828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84080" y="4800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84080" y="49286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5669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CXR creates the bridge to connect events.</a:t>
            </a:r>
            <a:endParaRPr lang="en-US" sz="16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52D4FA-F74B-500A-A0A9-082DC71D6D76}"/>
              </a:ext>
            </a:extLst>
          </p:cNvPr>
          <p:cNvSpPr/>
          <p:nvPr/>
        </p:nvSpPr>
        <p:spPr>
          <a:xfrm>
            <a:off x="7040880" y="2519916"/>
            <a:ext cx="4053840" cy="37107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A logo for a university&#10;&#10;Description automatically generated">
            <a:extLst>
              <a:ext uri="{FF2B5EF4-FFF2-40B4-BE49-F238E27FC236}">
                <a16:creationId xmlns:a16="http://schemas.microsoft.com/office/drawing/2014/main" id="{07807585-BB77-B8DF-7914-026EB8E68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CXR Mechanism (High Level)</a:t>
            </a:r>
          </a:p>
        </p:txBody>
      </p:sp>
      <p:sp>
        <p:nvSpPr>
          <p:cNvPr id="6" name="Shape 4"/>
          <p:cNvSpPr/>
          <p:nvPr/>
        </p:nvSpPr>
        <p:spPr>
          <a:xfrm>
            <a:off x="699516" y="1961388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9818" y="2148521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3544" y="2455164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events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query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57829" y="2431666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49854" y="1947672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87014" y="2178398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32734" y="2431666"/>
            <a:ext cx="1786280" cy="512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representations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(pooled tokens)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76165" y="2441448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77333" y="1953414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77916" y="2084832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87060" y="2300301"/>
            <a:ext cx="1920708" cy="4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Cross-event signals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(similarity/connectivity)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07768" y="2431666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25385" y="1961388"/>
            <a:ext cx="1912011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61962" y="2113967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89394" y="2386584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Query-aware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357970" y="2441448"/>
            <a:ext cx="201168" cy="201168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559138" y="1953414"/>
            <a:ext cx="2026310" cy="960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50578" y="2116411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05442" y="2386584"/>
            <a:ext cx="169712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events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injection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8679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000" b="1" dirty="0">
                <a:latin typeface="Times" panose="02020603050405020304" pitchFamily="18" charset="0"/>
                <a:cs typeface="Times" panose="02020603050405020304" pitchFamily="18" charset="0"/>
              </a:rPr>
              <a:t>Output: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Re-ranked list of events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Optional pruning to fit injection budget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Better coverage of multi-hop chains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97280" y="4133088"/>
            <a:ext cx="48463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66560" y="3730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4133088"/>
            <a:ext cx="43891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491322-CEC2-D3D6-B983-CE24655C02A2}"/>
              </a:ext>
            </a:extLst>
          </p:cNvPr>
          <p:cNvSpPr txBox="1"/>
          <p:nvPr/>
        </p:nvSpPr>
        <p:spPr>
          <a:xfrm>
            <a:off x="6094228" y="3767079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Re-ranked list of events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Optional pruning to fit injection budget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Better coverage of multi-hop chains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B69F15-8706-6B3E-AC42-95F83B60DBCE}"/>
              </a:ext>
            </a:extLst>
          </p:cNvPr>
          <p:cNvSpPr txBox="1"/>
          <p:nvPr/>
        </p:nvSpPr>
        <p:spPr>
          <a:xfrm>
            <a:off x="6104236" y="3433516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Design goals:</a:t>
            </a:r>
          </a:p>
        </p:txBody>
      </p:sp>
      <p:pic>
        <p:nvPicPr>
          <p:cNvPr id="37" name="Picture 36" descr="A logo for a university&#10;&#10;Description automatically generated">
            <a:extLst>
              <a:ext uri="{FF2B5EF4-FFF2-40B4-BE49-F238E27FC236}">
                <a16:creationId xmlns:a16="http://schemas.microsoft.com/office/drawing/2014/main" id="{333DDFC3-7998-5CE7-872D-25A14D95E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5333" y="939811"/>
            <a:ext cx="10010774" cy="848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Architecture- Comparison of Baseline vs EM</a:t>
            </a:r>
          </a:p>
        </p:txBody>
      </p:sp>
      <p:sp>
        <p:nvSpPr>
          <p:cNvPr id="7" name="Text 5"/>
          <p:cNvSpPr/>
          <p:nvPr/>
        </p:nvSpPr>
        <p:spPr>
          <a:xfrm>
            <a:off x="1073180" y="2545115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Baseline (Without Episodic Memory):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Mistral-7B via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Ollama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Standard prompting with full input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Metrics computed per dataset</a:t>
            </a: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88233" y="2540543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Episodic Memory pipeline: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Segment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structure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retrieve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Inject Key/Value tensors into memory buffer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Lightweight optional CXR re-ranking</a:t>
            </a:r>
          </a:p>
        </p:txBody>
      </p:sp>
      <p:sp>
        <p:nvSpPr>
          <p:cNvPr id="11" name="Text 9"/>
          <p:cNvSpPr/>
          <p:nvPr/>
        </p:nvSpPr>
        <p:spPr>
          <a:xfrm>
            <a:off x="6766560" y="2441448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96340" y="4256533"/>
            <a:ext cx="4480559" cy="1248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Fair comparison: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Same base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Same datasets &amp; prompts where possible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Only memory mechanism changes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5138928"/>
            <a:ext cx="10149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pic>
        <p:nvPicPr>
          <p:cNvPr id="19" name="Picture 18" descr="A logo for a university&#10;&#10;Description automatically generated">
            <a:extLst>
              <a:ext uri="{FF2B5EF4-FFF2-40B4-BE49-F238E27FC236}">
                <a16:creationId xmlns:a16="http://schemas.microsoft.com/office/drawing/2014/main" id="{A0AFFE75-E261-FA7A-6B41-4DEC59625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Tasks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3520440" cy="18745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Multi-hop QA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HotpotQA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2WikiMultihopQA (2WikiMQA)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611880" cy="18745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20391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Narrative / Summarization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2441448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NarrativeQA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QMSum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</a:t>
            </a:r>
            <a:r>
              <a:rPr lang="en-US" dirty="0" err="1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SAMSum</a:t>
            </a: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, </a:t>
            </a:r>
            <a:r>
              <a:rPr lang="en-US" dirty="0" err="1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GovReport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66760" y="1874520"/>
            <a:ext cx="3200400" cy="18745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0" y="2039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Long-context benchmarks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0" y="244144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RepoBench-P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LCC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• TREC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34640" y="41650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Total evaluation: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34640" y="4457807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9 datasets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≈ 1,321 questions (baseline run)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Tasks cover retrieval, summarization, and multi-hop reasoning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8" name="Picture 17" descr="A logo for a university&#10;&#10;Description automatically generated">
            <a:extLst>
              <a:ext uri="{FF2B5EF4-FFF2-40B4-BE49-F238E27FC236}">
                <a16:creationId xmlns:a16="http://schemas.microsoft.com/office/drawing/2014/main" id="{4A4EE4B7-AB21-4517-B253-994D2C4E7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 &amp; Metrics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Systems compared: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Baseline LLM (no episodic memory)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EM-LLM (episodic memory + KV injection)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EM-LLM + CXR (adds prioritization)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0" y="20391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Metrics: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49440" y="2441448"/>
            <a:ext cx="4251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F1 (primary) and Exact Match (QA)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Perplexity and qualitative analysis (diagnostics)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440283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Reporting: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1560" y="4805172"/>
            <a:ext cx="10149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Per-dataset averages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Overall average across all datasets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CXR gain reported as Δ over EM-LLM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5" name="Picture 14" descr="A logo for a university&#10;&#10;Description automatically generated">
            <a:extLst>
              <a:ext uri="{FF2B5EF4-FFF2-40B4-BE49-F238E27FC236}">
                <a16:creationId xmlns:a16="http://schemas.microsoft.com/office/drawing/2014/main" id="{7160E789-2CBB-C799-79D0-65528B47E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Results (Overall F1)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16836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Baseline: 10.19%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EM-LLM: 38.19%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EM-LLM + CXR: 39.81%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16650" y="2031191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Overall comparison: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52214" y="2377440"/>
            <a:ext cx="1928746" cy="1182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EM)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2441448"/>
            <a:ext cx="807490" cy="1118616"/>
          </a:xfrm>
          <a:prstGeom prst="roundRect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71330" y="2377440"/>
            <a:ext cx="1097280" cy="1246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69172" y="3733800"/>
            <a:ext cx="1811788" cy="1182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EM-LLM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18120" y="3797808"/>
            <a:ext cx="2787015" cy="1118616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0" y="3743298"/>
            <a:ext cx="1097280" cy="1246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38.19%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69172" y="5090160"/>
            <a:ext cx="1811788" cy="1182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EM-LLM + CXR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18120" y="5154168"/>
            <a:ext cx="3200400" cy="1118616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94720" y="5108802"/>
            <a:ext cx="1097280" cy="1246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41.81%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" y="3852672"/>
            <a:ext cx="43173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CXR gain over EM-LLM: +3.62 points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0276" y="4381961"/>
            <a:ext cx="4981938" cy="1330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Episodic memory delivers the most significant improvement (≈ +38 F1 points).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CXR adds smaller but consistent gains on cross-event tasks.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4" name="Picture 23" descr="A logo for a university&#10;&#10;Description automatically generated">
            <a:extLst>
              <a:ext uri="{FF2B5EF4-FFF2-40B4-BE49-F238E27FC236}">
                <a16:creationId xmlns:a16="http://schemas.microsoft.com/office/drawing/2014/main" id="{92C80D5D-EF33-A90F-8822-90765AB2D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793F4-1CD0-F77C-8D9A-4944DE09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7F5A75-C55A-A107-4656-DA532C92D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595372"/>
              </p:ext>
            </p:extLst>
          </p:nvPr>
        </p:nvGraphicFramePr>
        <p:xfrm>
          <a:off x="1027337" y="1275054"/>
          <a:ext cx="10137328" cy="509744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42527">
                  <a:extLst>
                    <a:ext uri="{9D8B030D-6E8A-4147-A177-3AD203B41FA5}">
                      <a16:colId xmlns:a16="http://schemas.microsoft.com/office/drawing/2014/main" val="4145833558"/>
                    </a:ext>
                  </a:extLst>
                </a:gridCol>
                <a:gridCol w="2042527">
                  <a:extLst>
                    <a:ext uri="{9D8B030D-6E8A-4147-A177-3AD203B41FA5}">
                      <a16:colId xmlns:a16="http://schemas.microsoft.com/office/drawing/2014/main" val="126579683"/>
                    </a:ext>
                  </a:extLst>
                </a:gridCol>
                <a:gridCol w="1967220">
                  <a:extLst>
                    <a:ext uri="{9D8B030D-6E8A-4147-A177-3AD203B41FA5}">
                      <a16:colId xmlns:a16="http://schemas.microsoft.com/office/drawing/2014/main" val="1992230245"/>
                    </a:ext>
                  </a:extLst>
                </a:gridCol>
                <a:gridCol w="2042527">
                  <a:extLst>
                    <a:ext uri="{9D8B030D-6E8A-4147-A177-3AD203B41FA5}">
                      <a16:colId xmlns:a16="http://schemas.microsoft.com/office/drawing/2014/main" val="1437481363"/>
                    </a:ext>
                  </a:extLst>
                </a:gridCol>
                <a:gridCol w="2042527">
                  <a:extLst>
                    <a:ext uri="{9D8B030D-6E8A-4147-A177-3AD203B41FA5}">
                      <a16:colId xmlns:a16="http://schemas.microsoft.com/office/drawing/2014/main" val="3126176729"/>
                    </a:ext>
                  </a:extLst>
                </a:gridCol>
              </a:tblGrid>
              <a:tr h="8347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Dataset</a:t>
                      </a:r>
                    </a:p>
                  </a:txBody>
                  <a:tcPr marL="222014" marR="133208" marT="133208" marB="1332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Baseline (No EM)</a:t>
                      </a:r>
                    </a:p>
                  </a:txBody>
                  <a:tcPr marL="222014" marR="133208" marT="133208" marB="1332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EM-LLM</a:t>
                      </a:r>
                    </a:p>
                  </a:txBody>
                  <a:tcPr marL="222014" marR="133208" marT="133208" marB="1332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EM-LLM + CXR</a:t>
                      </a:r>
                    </a:p>
                  </a:txBody>
                  <a:tcPr marL="222014" marR="133208" marT="133208" marB="1332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CXR Gain</a:t>
                      </a:r>
                    </a:p>
                  </a:txBody>
                  <a:tcPr marL="222014" marR="133208" marT="133208" marB="1332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762393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HotpotQA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10.49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40.78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44.24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+3.46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305573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2WikiMQA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10.60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22.02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21.58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−0.44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45753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NarrativeQA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11.27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13.76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17.28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+3.52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9261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QMSum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9.82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20.21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22.48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+2.27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37871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SAMSum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9.62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42.74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42.31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−0.43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434877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GovReport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11.39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31.61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35.42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+3.81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07128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RepoBench-P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8.98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48.97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52.15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+3.18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35764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LCC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9.49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56.66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59.32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+2.66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298682"/>
                  </a:ext>
                </a:extLst>
              </a:tr>
              <a:tr h="473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TREC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10.02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66.96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68.52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+1.56</a:t>
                      </a:r>
                    </a:p>
                  </a:txBody>
                  <a:tcPr marL="222014" marR="115447" marT="115447" marB="1154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0710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D754A384-FDB8-7A51-264E-CB819136AE3F}"/>
              </a:ext>
            </a:extLst>
          </p:cNvPr>
          <p:cNvSpPr txBox="1"/>
          <p:nvPr/>
        </p:nvSpPr>
        <p:spPr>
          <a:xfrm>
            <a:off x="1541721" y="580427"/>
            <a:ext cx="9622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Dataset-wise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(Baseline vs EM vs EM+CXR)</a:t>
            </a:r>
          </a:p>
        </p:txBody>
      </p:sp>
      <p:pic>
        <p:nvPicPr>
          <p:cNvPr id="41" name="Picture 40" descr="A logo for a university&#10;&#10;Description automatically generated">
            <a:extLst>
              <a:ext uri="{FF2B5EF4-FFF2-40B4-BE49-F238E27FC236}">
                <a16:creationId xmlns:a16="http://schemas.microsoft.com/office/drawing/2014/main" id="{64FF7A27-1E26-2DD8-C776-67119CD4A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317" y="60198"/>
            <a:ext cx="1332667" cy="1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21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CXR Helps Most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Top positive gains (Δ F1)</a:t>
            </a:r>
          </a:p>
          <a:p>
            <a:pPr marL="0" indent="0">
              <a:buNone/>
            </a:pP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103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350008"/>
            <a:ext cx="2560320" cy="5943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2286000"/>
            <a:ext cx="1097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3.46%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118104"/>
            <a:ext cx="2103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RepoBench-P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3182112"/>
            <a:ext cx="2353126" cy="5943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44966" y="3118104"/>
            <a:ext cx="1097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950208"/>
            <a:ext cx="2103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QMSum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4014216"/>
            <a:ext cx="1679748" cy="5943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71588" y="3950208"/>
            <a:ext cx="1097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782312"/>
            <a:ext cx="2103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GovReport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4846320"/>
            <a:ext cx="2729378" cy="5943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4836751"/>
            <a:ext cx="1097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614416"/>
            <a:ext cx="2103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46120" y="5678424"/>
            <a:ext cx="2011680" cy="5943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5635894"/>
            <a:ext cx="1097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2.66%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0391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Interpretation:</a:t>
            </a:r>
          </a:p>
          <a:p>
            <a:pPr marL="0" indent="0">
              <a:buNone/>
            </a:pP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42246" y="2441448"/>
            <a:ext cx="48791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Most significant gains occur when answers require linking events (multi-hop, code, long docs).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If retrieval already captures the right events, re-ranking can have a limited impact.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Small negative gains can happen due to re-ranking noise or redundancy removal.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6" name="Picture 25" descr="A logo for a university&#10;&#10;Description automatically generated">
            <a:extLst>
              <a:ext uri="{FF2B5EF4-FFF2-40B4-BE49-F238E27FC236}">
                <a16:creationId xmlns:a16="http://schemas.microsoft.com/office/drawing/2014/main" id="{53C8AC3C-409D-95C2-FED0-4EDFE9465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Advantages: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Large accuracy gains on long-context tasks (attention decay mitigation)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Training-free and model-agnostic wrapper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Interpretable: Events can be inspected and visualized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75120" y="2039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Disadvantages: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0" y="2441448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Extra compute and memory for segmentation + retrieval + CXR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Sensitive to segmentation quality and retrieval recall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CXR gains are task-dependent; can be slightly negative on some datasets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4962853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When to use: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36320" y="5246316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Best for long documents, multi-hop QA, code/doc reasoning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Less benefit for short contexts or single-event questions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5" name="Picture 14" descr="A logo for a university&#10;&#10;Description automatically generated">
            <a:extLst>
              <a:ext uri="{FF2B5EF4-FFF2-40B4-BE49-F238E27FC236}">
                <a16:creationId xmlns:a16="http://schemas.microsoft.com/office/drawing/2014/main" id="{73BA9C82-E6F5-E5A9-B77E-935A5471E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Key takeaways: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441448"/>
            <a:ext cx="10652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Episodic memory (EM-LLM) strongly improves long-context performance (10.19% → 38.19% overall F1).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Cross-Event Reasoner (CXR) adds prioritization and further improves results (38.19% → 41.81%).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Training-free context management is a practical path to mitigating attention decay.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44927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Future work: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4798687"/>
            <a:ext cx="10149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Stronger event graph learning and better boundary alignment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Adaptive injection budgets and cost-aware retrieval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A1A1A"/>
                </a:solidFill>
                <a:latin typeface="Times" panose="02020603050405020304" pitchFamily="18" charset="0"/>
                <a:ea typeface="Calibri" pitchFamily="34" charset="-122"/>
                <a:cs typeface="Times" panose="02020603050405020304" pitchFamily="18" charset="0"/>
              </a:rPr>
              <a:t>Richer qualitative tools: event graphs, attention maps, user studies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3" name="Picture 12" descr="A logo for a university&#10;&#10;Description automatically generated">
            <a:extLst>
              <a:ext uri="{FF2B5EF4-FFF2-40B4-BE49-F238E27FC236}">
                <a16:creationId xmlns:a16="http://schemas.microsoft.com/office/drawing/2014/main" id="{914DA044-994E-9DD4-DEEB-7DB129090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35" y="60198"/>
            <a:ext cx="14668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9CF4-ECAB-278E-BB97-7E0D713F5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5935"/>
            <a:ext cx="9144000" cy="83465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8A613-B33C-FA2D-B8DE-1F0284FCE4B0}"/>
              </a:ext>
            </a:extLst>
          </p:cNvPr>
          <p:cNvSpPr txBox="1"/>
          <p:nvPr/>
        </p:nvSpPr>
        <p:spPr>
          <a:xfrm>
            <a:off x="1073888" y="1371599"/>
            <a:ext cx="10210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Vaswani, N.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Shazeer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Parmar, J.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Uszkoreit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Jones, A. N. Gomez, Ł. Kaiser, and I.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Polosukhin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“Attention Is All You Need,” in Proc.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I.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Beltagy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E. Peters, and A. Cohan,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Longformer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Long-Document Transformer,”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arXiv:2004.05150, 2020.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Wang, S. Shen, P. He, W. Chen, and M. Zhou, “Cluster-Former: Clustering-Based Sparse Transformer for Long-Range Dependency Encoding,”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arXiv:2009.06097, 2021.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Z. Dai, Z. Yang, Y. Yang, J. Carbonell, Q. V. Le, and R.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Salakhutdinov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“Transformer-XL: Attentive Language Models Beyond a Fixed-Length Context,” in Proc. ACL, 2019.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Y. Tay, M. Dehghani, D. Bahri, and D. Metzler, “Long Range Arena: A Benchmark for Efficient Transformers,”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arXiv:2011.04006, 2020.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Y. Wu, M. N. Rabe, D. Hutchins, and C. Szegedy, “Memorizing Transformers,”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arXiv:2203.08913, 2022.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Z. Fountas, P.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Kormushev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Gove, and M. Shanahan, “Human-Inspired Episodic Memory for Infinite Context LLMs,”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arXiv:2407.09450, 2025.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Z. Fountas, P.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Kormushev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Gove, and M. Shanahan, “EM-LLM: Human-Inspired Episodic Memory for Infinite Context LLMs,” 2024. [Online]. Available: https://em-llm.github.io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Y. Chen, A.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Luan, B. Wang, and W. Liu,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Novel Positional Encoding Without Long-Term Decay,”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arXiv:2410.21216, 2024.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Y. Zhou, S. Dai, Z. Cao, X. Zhang, and J. Xu, “Length-Induced Embedding Collapse in PLM-Based Models,”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arXiv:2410.24200, 2025.</a:t>
            </a:r>
          </a:p>
        </p:txBody>
      </p:sp>
    </p:spTree>
    <p:extLst>
      <p:ext uri="{BB962C8B-B14F-4D97-AF65-F5344CB8AC3E}">
        <p14:creationId xmlns:p14="http://schemas.microsoft.com/office/powerpoint/2010/main" val="796198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B9F5-1D66-0211-D4F2-ECF57184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EE77-6794-9CB9-6098-3107B780D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5935"/>
            <a:ext cx="9144000" cy="83465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B6E1B-67C6-2472-2E4D-E3D77C779BC2}"/>
              </a:ext>
            </a:extLst>
          </p:cNvPr>
          <p:cNvSpPr txBox="1"/>
          <p:nvPr/>
        </p:nvSpPr>
        <p:spPr>
          <a:xfrm>
            <a:off x="1073888" y="1371599"/>
            <a:ext cx="10210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Y. Bai et al.,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LongBench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Bilingual, Multitask Benchmark for Long-Context Understanding,” arXiv:2308.14508, 2023.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X. Zhang et al., “∞BENCH: Extending Long-Context Evaluation Beyond 100K Tokens,” 2024. [Online]. Available: https://github.com/OpenBMB/InfiniteBench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P. Lewis et al., “Retrieval-Augmented Generation for Knowledge-Intensive NLP Tasks,” arXiv:2005.11401, 2021.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S. Sukhbaatar, A.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Szlam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Weston, and R. Fergus, “End-to-End Memory Networks,” arXiv:1503.08895, 2015.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Q. Xie, Z. Dai, E.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Hovy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M.-T. Luong, and Q. V. Le, “Unsupervised Data Augmentation for Consistency Training,” arXiv:1904.12848, 2019.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Z. Yang et al.,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HotpotQA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Dataset for Diverse, Explainable Multi-Hop Question Answering,” in Proc. EMNLP, 2018, pp. 2369-2380.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A. Huet, Z. Ben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Houidi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D. Rossi, “Episodic Memories Generation and Evaluation Benchmark for Large Language Models,” in Proc. ICLR, 2025.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Y.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Kuratov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BABILong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Testing the Limits of LLMs with Long-Context Reasoning-in-a-Haystack,” arXiv:2406.10149, 2024.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T. Schick et al.,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Toolformer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Language Models Can Teach Themselves to Use Tools,” arXiv:2302.04761, 2023.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Y. Wu et al., “An Efficient Memory-Augmented Transformer for Knowledge-Intensive NLP Tasks,” arXiv:2210.16748, 2022.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S. Wang et al., “Cluster-Former: Clustering-Based Sparse Transformer for Long-Range Dependency Encoding,” arXiv:2009.06097, 2021.</a:t>
            </a:r>
          </a:p>
        </p:txBody>
      </p:sp>
    </p:spTree>
    <p:extLst>
      <p:ext uri="{BB962C8B-B14F-4D97-AF65-F5344CB8AC3E}">
        <p14:creationId xmlns:p14="http://schemas.microsoft.com/office/powerpoint/2010/main" val="1255963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6FE1-EA0D-E8AF-54E6-69B50F47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9743-0B82-95C2-8AC0-81CFA5AA2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5935"/>
            <a:ext cx="9144000" cy="83465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8E496-D86B-56C7-6AE6-26CBFC3D7BAD}"/>
              </a:ext>
            </a:extLst>
          </p:cNvPr>
          <p:cNvSpPr txBox="1"/>
          <p:nvPr/>
        </p:nvSpPr>
        <p:spPr>
          <a:xfrm>
            <a:off x="1073888" y="1371599"/>
            <a:ext cx="10210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F.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Trotolo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“Retrieval-Augmented Generation (RAG): Bridging LLMs with External Knowledge,” 2025.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N. Paulsen, “Context Is What You Need: The Maximum Effective Context Window for Real-World Limits of LLMs,” 2025.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 G.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Mongaras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Dohm, and E. C. Larson,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Cottention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Linear Transformers with Cosine Attention,” 2025.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 Y. Wu et al., “An Efficient Memory-Augmented Transformer for Knowledge-Intensive NLP Tasks,” in Proc. EMNLP, 2022.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[26] Z. Fountas et al., “Easy Attention: A Simple Attention Mechanism for Temporal Predictions with Transformers,” arXiv:2308.12874, 2025.</a:t>
            </a:r>
          </a:p>
        </p:txBody>
      </p:sp>
    </p:spTree>
    <p:extLst>
      <p:ext uri="{BB962C8B-B14F-4D97-AF65-F5344CB8AC3E}">
        <p14:creationId xmlns:p14="http://schemas.microsoft.com/office/powerpoint/2010/main" val="1498681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38E32-2A51-9E2A-A6F1-B0D39D529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843" y="643467"/>
            <a:ext cx="730631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5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2790</Words>
  <Application>Microsoft Office PowerPoint</Application>
  <PresentationFormat>Widescreen</PresentationFormat>
  <Paragraphs>415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Times</vt:lpstr>
      <vt:lpstr>Times New Roman</vt:lpstr>
      <vt:lpstr>Wingdings</vt:lpstr>
      <vt:lpstr>Office Theme</vt:lpstr>
      <vt:lpstr>  Efficient Context Management in Large Language Models to  Mitigate Attention Decay Using  Human Memory-Inspired  Prioritization</vt:lpstr>
      <vt:lpstr>AGENDA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References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EM_LLM Assistant</dc:creator>
  <cp:lastModifiedBy>Poonam Dashrath Paraskar</cp:lastModifiedBy>
  <cp:revision>25</cp:revision>
  <dcterms:created xsi:type="dcterms:W3CDTF">2026-01-01T12:52:17Z</dcterms:created>
  <dcterms:modified xsi:type="dcterms:W3CDTF">2026-01-02T13:18:48Z</dcterms:modified>
</cp:coreProperties>
</file>